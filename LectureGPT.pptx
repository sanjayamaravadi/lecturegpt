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7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E6292E-F556-49CF-AC06-1EFB8EF0FF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FCF3B9-FD6C-4BF1-B01C-698AB9A3B0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85C66C-2A29-4A6D-AE4A-CDFC1F23D1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570E19-5AD6-4FA3-82DE-2A1AB2632F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0D2B692-1829-47F1-9C10-0EE8CA0A1F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2332489-32C3-4616-8740-9607C04BE0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FFCE76B-65EE-440D-8C2D-B6EB7E4235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FA7C60E-7C05-4AB3-9967-F1066CB019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4" name="Rectangle 6"/>
          <p:cNvSpPr/>
          <p:nvPr/>
        </p:nvSpPr>
        <p:spPr>
          <a:xfrm>
            <a:off x="446400" y="3085920"/>
            <a:ext cx="11297880" cy="333720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165694-D9E6-4681-AD69-33DD133DE917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3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ftr" idx="4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13120E-D23F-4B5E-980B-33F458E0148B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6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 hidden="1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9" hidden="1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10" hidden="1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6"/>
          <p:cNvSpPr/>
          <p:nvPr/>
        </p:nvSpPr>
        <p:spPr>
          <a:xfrm>
            <a:off x="8058240" y="599760"/>
            <a:ext cx="3686400" cy="581580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8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9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ftr" idx="7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8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B9E6D6-2ACF-4BD4-967C-B25B4A5F5898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9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0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  <p:sldLayoutId id="2147483657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7"/>
          <p:cNvSpPr/>
          <p:nvPr/>
        </p:nvSpPr>
        <p:spPr>
          <a:xfrm>
            <a:off x="447840" y="5141880"/>
            <a:ext cx="11289960" cy="125784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ftr" idx="11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2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A9D0B1-783B-4500-A356-0C688FDC997F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3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4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5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C1F308-9DF0-479C-AE4C-BE1B4A1B6C99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dt" idx="16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ftr" idx="17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18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27A966-BD3D-40A4-84A3-6A05809F53EE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19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76000" y="712800"/>
            <a:ext cx="110286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20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21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882944-C94C-4B7F-BA39-3C633E9629CE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2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ftr" idx="23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4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BCA373-41B3-4236-9205-48154E98E44D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25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92" name="Rectangle 8"/>
          <p:cNvSpPr/>
          <p:nvPr/>
        </p:nvSpPr>
        <p:spPr>
          <a:xfrm>
            <a:off x="447840" y="601200"/>
            <a:ext cx="3681720" cy="58143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ftr" idx="26"/>
          </p:nvPr>
        </p:nvSpPr>
        <p:spPr>
          <a:xfrm>
            <a:off x="581040" y="64526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7"/>
          </p:nvPr>
        </p:nvSpPr>
        <p:spPr>
          <a:xfrm>
            <a:off x="10558440" y="645696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66601D-C79B-4B53-959A-462CB81B8359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28"/>
          </p:nvPr>
        </p:nvSpPr>
        <p:spPr>
          <a:xfrm>
            <a:off x="7606080" y="645696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8"/>
          <p:cNvSpPr/>
          <p:nvPr/>
        </p:nvSpPr>
        <p:spPr>
          <a:xfrm>
            <a:off x="446400" y="457200"/>
            <a:ext cx="3702240" cy="93960"/>
          </a:xfrm>
          <a:prstGeom prst="rect">
            <a:avLst/>
          </a:prstGeom>
          <a:solidFill>
            <a:srgbClr val="465359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 9"/>
          <p:cNvSpPr/>
          <p:nvPr/>
        </p:nvSpPr>
        <p:spPr>
          <a:xfrm>
            <a:off x="8042040" y="453600"/>
            <a:ext cx="3702240" cy="97560"/>
          </a:xfrm>
          <a:prstGeom prst="rect">
            <a:avLst/>
          </a:prstGeom>
          <a:solidFill>
            <a:srgbClr val="969fa7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10"/>
          <p:cNvSpPr/>
          <p:nvPr/>
        </p:nvSpPr>
        <p:spPr>
          <a:xfrm>
            <a:off x="4241880" y="457200"/>
            <a:ext cx="3702240" cy="903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38160" rotWithShape="0">
              <a:srgbClr val="000000">
                <a:alpha val="5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0485000" y="6437880"/>
            <a:ext cx="1124640" cy="36396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ftr" idx="29"/>
          </p:nvPr>
        </p:nvSpPr>
        <p:spPr>
          <a:xfrm>
            <a:off x="581040" y="6423840"/>
            <a:ext cx="69159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30"/>
          </p:nvPr>
        </p:nvSpPr>
        <p:spPr>
          <a:xfrm>
            <a:off x="10558440" y="6423840"/>
            <a:ext cx="1051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C30B2F-EB2F-4BA3-97AE-FF08367ED62E}" type="slidenum">
              <a:rPr b="0" lang="en-US" sz="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31"/>
          </p:nvPr>
        </p:nvSpPr>
        <p:spPr>
          <a:xfrm>
            <a:off x="7606080" y="642384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ai.google.dev/" TargetMode="External"/><Relationship Id="rId2" Type="http://schemas.openxmlformats.org/officeDocument/2006/relationships/hyperlink" Target="https://github.com/openai/whisper" TargetMode="External"/><Relationship Id="rId3" Type="http://schemas.openxmlformats.org/officeDocument/2006/relationships/hyperlink" Target="https://www.gradio.app/docs" TargetMode="External"/><Relationship Id="rId4" Type="http://schemas.openxmlformats.org/officeDocument/2006/relationships/hyperlink" Target="https://docs.python.org/3" TargetMode="External"/><Relationship Id="rId5" Type="http://schemas.openxmlformats.org/officeDocument/2006/relationships/hyperlink" Target="https://colab.research.google.comtation/" TargetMode="External"/><Relationship Id="rId6" Type="http://schemas.openxmlformats.org/officeDocument/2006/relationships/hyperlink" Target="https://py-pdf.github.io/fpdf2/" TargetMode="External"/><Relationship Id="rId7" Type="http://schemas.openxmlformats.org/officeDocument/2006/relationships/hyperlink" Target="https://docs.github.com/" TargetMode="External"/><Relationship Id="rId8" Type="http://schemas.openxmlformats.org/officeDocument/2006/relationships/hyperlink" Target="https://pytorch.org/docs" TargetMode="External"/><Relationship Id="rId9" Type="http://schemas.openxmlformats.org/officeDocument/2006/relationships/hyperlink" Target="https://www.markdownguide.org/" TargetMode="External"/><Relationship Id="rId10" Type="http://schemas.openxmlformats.org/officeDocument/2006/relationships/hyperlink" Target="https://mermaid.js.org/" TargetMode="External"/><Relationship Id="rId11" Type="http://schemas.openxmlformats.org/officeDocument/2006/relationships/hyperlink" Target="https://github.com/googleapis/python-genai" TargetMode="External"/><Relationship Id="rId12" Type="http://schemas.openxmlformats.org/officeDocument/2006/relationships/hyperlink" Target="https://jupyter.org/documentation" TargetMode="External"/><Relationship Id="rId13" Type="http://schemas.openxmlformats.org/officeDocument/2006/relationships/hyperlink" Target="https://platform.openai.com/docs" TargetMode="External"/><Relationship Id="rId14" Type="http://schemas.openxmlformats.org/officeDocument/2006/relationships/hyperlink" Target="https://numpy.org/doc" TargetMode="External"/><Relationship Id="rId15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github.com/SanjayAmaravadi/LectureGPT" TargetMode="External"/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6120" cy="6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all">
                <a:solidFill>
                  <a:schemeClr val="accent1"/>
                </a:solidFill>
                <a:latin typeface="Arial"/>
              </a:rPr>
              <a:t>Lecture Voice-to-Notes Generator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862200" y="792000"/>
            <a:ext cx="107956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CAPSTONE PROJECT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33800" y="3261960"/>
            <a:ext cx="114300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Presented By: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482ac"/>
              </a:buClr>
              <a:buFont typeface="OpenSymbol"/>
              <a:buAutoNum type="arabicPeriod"/>
            </a:pPr>
            <a:r>
              <a:rPr b="1" lang="en-US" sz="20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Student Name -  AMARAVADI SANJAY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482ac"/>
              </a:buClr>
              <a:buFont typeface="OpenSymbol"/>
              <a:buAutoNum type="arabicPeriod"/>
            </a:pPr>
            <a:r>
              <a:rPr b="1" lang="en-US" sz="20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College Name -  RAJIV GANDHI UNIVERSITY OF KNOWLEDGE TECHNOLOGIES, BASAR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1482ac"/>
              </a:buClr>
              <a:buFont typeface="OpenSymbol"/>
              <a:buAutoNum type="arabicPeriod"/>
            </a:pPr>
            <a:r>
              <a:rPr b="1" lang="en-US" sz="20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Department  - COMPUTER SCIENCE AND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49600" y="55836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 cap="all">
                <a:solidFill>
                  <a:srgbClr val="002060"/>
                </a:solidFill>
                <a:latin typeface="Arial"/>
              </a:rPr>
              <a:t>OUTLINE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618920"/>
            <a:ext cx="11017800" cy="52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Problem Statement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Proposed System/Solution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System Development Approach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Algorithm &amp; Deployment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Result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Conclusion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Future Scope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References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81040" y="918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40800" y="1623600"/>
            <a:ext cx="11017800" cy="43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Students spend hours converting lectures into notes.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Revising long lecture recordings is difficult.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Important concepts are often missed during note-taking.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Creating quizzes and flashcards manually is time-consuming.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Students struggle to quickly find answers from lengthy lectures.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Traditional learning methods lack personalization and interactivity.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A smart AI-powered study assistant is needed to improve learning efficiency.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</a:rPr>
              <a:t>Proposed Solution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 rot="21576000">
            <a:off x="2514240" y="1405440"/>
            <a:ext cx="10057680" cy="61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72800" y="1500120"/>
            <a:ext cx="11028600" cy="444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0600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Developed LectureGPT Pro, an AI-powered learning assistant that transforms lecture recordings into study materials automatically.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0600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The System: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Accepts audio and video lecture recordings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Converts speech into text using Whisper AI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Generates structured notes using Gemini AI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Creates quizzes and flashcards automatically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Generates visual mind maps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Provides an AI Tutor for interactive learning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Exports study materials as PDF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81040" y="6624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System  architecture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rcRect l="1602" t="-376" r="2840" b="13705"/>
          <a:stretch/>
        </p:blipFill>
        <p:spPr>
          <a:xfrm>
            <a:off x="1459440" y="1143000"/>
            <a:ext cx="9020160" cy="545400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685800" y="1600200"/>
            <a:ext cx="8229600" cy="41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000" spc="-1" strike="noStrike" baseline="33000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81040" y="6624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TECHNOLOGIES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5257800" cy="297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0600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Frontend: </a:t>
            </a: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Gradio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Backend: </a:t>
            </a: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Python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AI Model: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OpenAI Whisper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Google Gemini 2.5 Flash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rcRect l="7581" t="86210" r="7586" b="2757"/>
          <a:stretch/>
        </p:blipFill>
        <p:spPr>
          <a:xfrm>
            <a:off x="873000" y="4800960"/>
            <a:ext cx="10557000" cy="91404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9"/>
          <p:cNvSpPr txBox="1"/>
          <p:nvPr/>
        </p:nvSpPr>
        <p:spPr>
          <a:xfrm>
            <a:off x="5693040" y="914400"/>
            <a:ext cx="5257800" cy="297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306000" indent="-30600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Document Generation: </a:t>
            </a: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FPDF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Deployment: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Google Colab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Gradio Public URL</a:t>
            </a: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10000"/>
              </a:lnSpc>
              <a:spcBef>
                <a:spcPts val="1134"/>
              </a:spcBef>
              <a:buClr>
                <a:srgbClr val="1cade4"/>
              </a:buClr>
              <a:buSzPct val="75000"/>
              <a:buFont typeface="OpenSymbol"/>
              <a:buChar char="■"/>
            </a:pPr>
            <a:r>
              <a:rPr b="0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Version Control:</a:t>
            </a:r>
            <a:r>
              <a:rPr b="1" lang="en-IN" sz="1700" spc="-1" strike="noStrike">
                <a:solidFill>
                  <a:srgbClr val="000000"/>
                </a:solidFill>
                <a:latin typeface="Franklin Gothic Book"/>
                <a:ea typeface="Noto Sans CJK SC"/>
              </a:rPr>
              <a:t> Git &amp; GitHub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81040" y="6624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System  Workflow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37200" y="914400"/>
            <a:ext cx="11017800" cy="548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Upload Lecture Audio/Video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Extract Speech using Whisper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 Transcript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 Notes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 Quiz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 Flashcards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 Mind Map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Ask Questions using AI Tutor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Export Study Materials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Algorithm &amp; Deployment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85800" y="1371600"/>
            <a:ext cx="9371880" cy="50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31360" y="1371600"/>
            <a:ext cx="8154720" cy="43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rcRect l="2377" t="14612" r="2487" b="6671"/>
          <a:stretch/>
        </p:blipFill>
        <p:spPr>
          <a:xfrm>
            <a:off x="914760" y="999000"/>
            <a:ext cx="10286640" cy="539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Result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1688760" y="1281960"/>
            <a:ext cx="8905320" cy="504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Result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625320" y="1265040"/>
            <a:ext cx="5255640" cy="251496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5932440" y="1265040"/>
            <a:ext cx="5244480" cy="250956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625320" y="3854160"/>
            <a:ext cx="5246640" cy="251064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5989680" y="3884760"/>
            <a:ext cx="5114880" cy="171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Result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617040" y="1231200"/>
            <a:ext cx="5208840" cy="2492640"/>
          </a:xfrm>
          <a:prstGeom prst="rect">
            <a:avLst/>
          </a:prstGeom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2"/>
          <a:stretch/>
        </p:blipFill>
        <p:spPr>
          <a:xfrm>
            <a:off x="591840" y="3789000"/>
            <a:ext cx="5247360" cy="2511000"/>
          </a:xfrm>
          <a:prstGeom prst="rect">
            <a:avLst/>
          </a:prstGeom>
          <a:ln w="0">
            <a:noFill/>
          </a:ln>
        </p:spPr>
      </p:pic>
      <p:grpSp>
        <p:nvGrpSpPr>
          <p:cNvPr id="136" name=""/>
          <p:cNvGrpSpPr/>
          <p:nvPr/>
        </p:nvGrpSpPr>
        <p:grpSpPr>
          <a:xfrm>
            <a:off x="6038640" y="1205640"/>
            <a:ext cx="5663520" cy="5036400"/>
            <a:chOff x="6038640" y="1205640"/>
            <a:chExt cx="5663520" cy="5036400"/>
          </a:xfrm>
        </p:grpSpPr>
        <p:pic>
          <p:nvPicPr>
            <p:cNvPr id="137" name="" descr=""/>
            <p:cNvPicPr/>
            <p:nvPr/>
          </p:nvPicPr>
          <p:blipFill>
            <a:blip r:embed="rId3"/>
            <a:srcRect l="-95" t="19323" r="0" b="0"/>
            <a:stretch/>
          </p:blipFill>
          <p:spPr>
            <a:xfrm>
              <a:off x="6038640" y="3994920"/>
              <a:ext cx="5661360" cy="2247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8" name="" descr=""/>
            <p:cNvPicPr/>
            <p:nvPr/>
          </p:nvPicPr>
          <p:blipFill>
            <a:blip r:embed="rId4"/>
            <a:stretch/>
          </p:blipFill>
          <p:spPr>
            <a:xfrm>
              <a:off x="6038640" y="1205640"/>
              <a:ext cx="5663520" cy="278928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0"/>
          <p:cNvSpPr txBox="1"/>
          <p:nvPr/>
        </p:nvSpPr>
        <p:spPr>
          <a:xfrm>
            <a:off x="565200" y="1143000"/>
            <a:ext cx="11017800" cy="4342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LectureGPT Pro automates lecture-to-notes </a:t>
            </a: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conversion.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Helps students learn faster and revise </a:t>
            </a: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effectively.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Generates notes, quizzes, flashcards, and </a:t>
            </a: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mind maps automatically.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Provides an AI Tutor for interactive learning.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Saves time and improves knowledge retention.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Demonstrates the practical application of </a:t>
            </a: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Generative AI in education.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4"/>
          <p:cNvSpPr/>
          <p:nvPr/>
        </p:nvSpPr>
        <p:spPr>
          <a:xfrm>
            <a:off x="535680" y="844560"/>
            <a:ext cx="1102860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68333"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</a:rPr>
              <a:t>Future scope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11"/>
          <p:cNvSpPr txBox="1"/>
          <p:nvPr/>
        </p:nvSpPr>
        <p:spPr>
          <a:xfrm>
            <a:off x="565560" y="1143360"/>
            <a:ext cx="11017800" cy="4342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 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Multi-language transcription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Real-time lecture summarization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Voice based AI Tutor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Mobile Application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Cloud Storage Integration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Learning Progress analysis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Personalized Study Plans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Franklin Gothic Book"/>
              </a:rPr>
              <a:t>LMS integration (Moodle, Google classroom)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accent1"/>
                </a:solidFill>
                <a:latin typeface="Arial"/>
                <a:ea typeface="Franklin Gothic Demi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668880" y="1525680"/>
            <a:ext cx="60948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668880" y="3303720"/>
            <a:ext cx="60948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05440" y="1590480"/>
            <a:ext cx="4939200" cy="37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Google Gemini API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2"/>
              </a:rPr>
              <a:t>OpenAI Whisper Documentation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3"/>
              </a:rPr>
              <a:t>Gradio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4"/>
              </a:rPr>
              <a:t>Python Official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5"/>
              </a:rPr>
              <a:t>Google Colab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6"/>
              </a:rPr>
              <a:t>FPDF2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7"/>
              </a:rPr>
              <a:t>GitHub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113440" y="1590480"/>
            <a:ext cx="6059520" cy="39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8"/>
              </a:rPr>
              <a:t>PyTorch Documentation (used internally by Whisper)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9"/>
              </a:rPr>
              <a:t>Markdown Guide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0"/>
              </a:rPr>
              <a:t>Mermaid Diagram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1"/>
              </a:rPr>
              <a:t>Google Generative AI Python SDK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2"/>
              </a:rPr>
              <a:t>Jupyter Notebook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3"/>
              </a:rPr>
              <a:t>OpenAI API &amp; AI Research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4"/>
              </a:rPr>
              <a:t>NumPy Documentation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860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Github link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81040" y="1302120"/>
            <a:ext cx="11028600" cy="467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IN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  <a:ea typeface="Noto Sans CJK SC"/>
              </a:rPr>
              <a:t>Github Link :</a:t>
            </a:r>
            <a:r>
              <a:rPr b="0" lang="en-IN" sz="17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Franklin Gothic Book"/>
                <a:ea typeface="Noto Sans CJK SC"/>
                <a:hlinkClick r:id="rId1"/>
              </a:rPr>
              <a:t>https://github.com/SanjayAmaravadi/LectureGPT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463040" y="2766240"/>
            <a:ext cx="92977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rgbClr val="002060"/>
                </a:solidFill>
                <a:latin typeface="Arial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1091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2021-05-26T16:50:10Z</dcterms:created>
  <dc:creator>Vaibhav Ostwal</dc:creator>
  <dc:description/>
  <dc:language>en-US</dc:language>
  <cp:lastModifiedBy/>
  <cp:lastPrinted>2026-06-15T14:45:36Z</cp:lastPrinted>
  <dcterms:modified xsi:type="dcterms:W3CDTF">2026-06-19T22:44:12Z</dcterms:modified>
  <cp:revision>44</cp:revision>
  <dc:subject/>
  <dc:title>SkillsBuild Partner Update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PresentationFormat">
    <vt:lpwstr>Widescreen</vt:lpwstr>
  </property>
  <property fmtid="{D5CDD505-2E9C-101B-9397-08002B2CF9AE}" pid="4" name="Slides">
    <vt:r8>12</vt:r8>
  </property>
</Properties>
</file>